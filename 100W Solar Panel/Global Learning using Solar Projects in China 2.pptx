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69" r:id="rId5"/>
    <p:sldId id="257" r:id="rId6"/>
    <p:sldId id="274" r:id="rId7"/>
    <p:sldId id="266" r:id="rId8"/>
    <p:sldId id="259" r:id="rId9"/>
    <p:sldId id="265" r:id="rId10"/>
    <p:sldId id="260" r:id="rId11"/>
    <p:sldId id="261" r:id="rId12"/>
    <p:sldId id="262" r:id="rId13"/>
    <p:sldId id="273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99"/>
    <a:srgbClr val="FFCCFF"/>
    <a:srgbClr val="99FFCC"/>
    <a:srgbClr val="CCFF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5" autoAdjust="0"/>
    <p:restoredTop sz="95501" autoAdjust="0"/>
  </p:normalViewPr>
  <p:slideViewPr>
    <p:cSldViewPr snapToGrid="0">
      <p:cViewPr varScale="1">
        <p:scale>
          <a:sx n="70" d="100"/>
          <a:sy n="70" d="100"/>
        </p:scale>
        <p:origin x="74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36C15-4301-42D1-9FA6-C276593ADDA1}" type="datetimeFigureOut">
              <a:rPr lang="en-US" smtClean="0"/>
              <a:t>4/17/2015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D5532-FB08-4669-87CD-E7C547ADD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7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 last year I was in Wuxi China as part of a faculty exchange program between Ivy Tech Community College and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Wuxi Professional College of Science and Technology. The purpose of my trip was to learning more about how other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cultures address and solve engineering problems. There appears to be a correlation between diversity and innovation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 wanted to explored. In many ways, I believe that technology and engineering solutions must be viewed in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 context. During my stay we built a single axis 100W solar panel tracker using the skills of a small international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team. I wanted to take the opportunity to share my observations and discuss ideas on how to use solar technology to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inspire global involvement and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D5532-FB08-4669-87CD-E7C547ADDD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 smtClean="0"/>
              <a:t>http://www.ifitweremyhome.com/compare/US/DO</a:t>
            </a:r>
          </a:p>
          <a:p>
            <a:pPr>
              <a:defRPr/>
            </a:pPr>
            <a:r>
              <a:rPr lang="en-US" sz="1200" dirty="0" smtClean="0"/>
              <a:t>The per capita consumption of electricity in Dominican Republic is 1,297kWh while in The United States it is 12,484kWh.</a:t>
            </a:r>
          </a:p>
          <a:p>
            <a:pPr>
              <a:defRPr/>
            </a:pPr>
            <a:r>
              <a:rPr lang="en-US" sz="1100" dirty="0" smtClean="0"/>
              <a:t>The GDP per capita in Dominican Republic is $9,700 while in The United States it is $52,800</a:t>
            </a:r>
          </a:p>
          <a:p>
            <a:pPr>
              <a:defRPr/>
            </a:pPr>
            <a:endParaRPr lang="en-US" sz="1100" dirty="0" smtClean="0"/>
          </a:p>
          <a:p>
            <a:pPr>
              <a:defRPr/>
            </a:pPr>
            <a:r>
              <a:rPr lang="en-US" sz="1200" dirty="0" smtClean="0"/>
              <a:t>http://www.ifitweremyhome.com/compare/US/CN</a:t>
            </a:r>
          </a:p>
          <a:p>
            <a:pPr>
              <a:defRPr/>
            </a:pPr>
            <a:r>
              <a:rPr lang="en-US" dirty="0" smtClean="0"/>
              <a:t>The per capita consumption of electricity China it is 3,925kWh in</a:t>
            </a:r>
            <a:r>
              <a:rPr lang="en-US" baseline="0" dirty="0" smtClean="0"/>
              <a:t> </a:t>
            </a:r>
            <a:r>
              <a:rPr lang="en-US" dirty="0" smtClean="0"/>
              <a:t>while in The United States is 12,185kWh</a:t>
            </a:r>
            <a:r>
              <a:rPr lang="en-US" sz="1200" dirty="0" smtClean="0"/>
              <a:t>.</a:t>
            </a:r>
          </a:p>
          <a:p>
            <a:pPr>
              <a:defRPr/>
            </a:pPr>
            <a:r>
              <a:rPr lang="en-US" sz="1100" dirty="0" smtClean="0"/>
              <a:t>The GDP per capita in China is $9,800 while in The United States it is $52,800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D5532-FB08-4669-87CD-E7C547ADDD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8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Define</a:t>
            </a:r>
            <a:r>
              <a:rPr lang="en-US" baseline="0" dirty="0" smtClean="0"/>
              <a:t> the requirements via capture of the voice of the customer</a:t>
            </a:r>
          </a:p>
          <a:p>
            <a:r>
              <a:rPr lang="en-US" baseline="0" dirty="0" smtClean="0"/>
              <a:t>Verification and validation</a:t>
            </a:r>
          </a:p>
          <a:p>
            <a:r>
              <a:rPr lang="en-US" baseline="0" dirty="0" smtClean="0"/>
              <a:t>Verification = Does the design meet the requirements?</a:t>
            </a:r>
          </a:p>
          <a:p>
            <a:r>
              <a:rPr lang="en-US" baseline="0" dirty="0" smtClean="0"/>
              <a:t>Validation = Does the design meet the expectation of the customer?</a:t>
            </a:r>
          </a:p>
          <a:p>
            <a:r>
              <a:rPr lang="en-US" baseline="0" dirty="0" smtClean="0"/>
              <a:t>Should also look at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D5532-FB08-4669-87CD-E7C547ADDD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61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fitweremyhome.com/compare/US/DO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://www.ifitweremyhome.com/compare/US/C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ia.gov/tools/faqs/faq.cfm?id=427&amp;t=3" TargetMode="External"/><Relationship Id="rId5" Type="http://schemas.openxmlformats.org/officeDocument/2006/relationships/hyperlink" Target="http://blogs.iadb.org/caribbean-dev-trends/2013/11/27/dominican-republics-energy-market/" TargetMode="External"/><Relationship Id="rId4" Type="http://schemas.openxmlformats.org/officeDocument/2006/relationships/hyperlink" Target="http://www.eesi.org/papers/view/issue-brief-chinas-actions-on-clean-power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pa.gov/blog/2009/09/where-does-my-electricity-come-from/" TargetMode="External"/><Relationship Id="rId2" Type="http://schemas.openxmlformats.org/officeDocument/2006/relationships/hyperlink" Target="http://www.caricom.org/jsp/community_organs/energy_programme/electricity_gifs_strategy_final_report_summary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://www.nrdc.org/energy/renewables/indiana.asp" TargetMode="External"/><Relationship Id="rId4" Type="http://schemas.openxmlformats.org/officeDocument/2006/relationships/hyperlink" Target="http://instituteforenergyresearch.org/states/indian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 Learning using Solar Projects in China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Andrew Bell</a:t>
            </a:r>
          </a:p>
          <a:p>
            <a:r>
              <a:rPr lang="en-US" dirty="0" smtClean="0"/>
              <a:t>Ivy Tech Community College – Northeast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4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64770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71600"/>
            <a:ext cx="9921394" cy="3880773"/>
          </a:xfrm>
        </p:spPr>
        <p:txBody>
          <a:bodyPr/>
          <a:lstStyle/>
          <a:p>
            <a:r>
              <a:rPr lang="en-US" dirty="0" smtClean="0"/>
              <a:t>Participated in 1</a:t>
            </a:r>
            <a:r>
              <a:rPr lang="en-US" baseline="30000" dirty="0" smtClean="0"/>
              <a:t>st</a:t>
            </a:r>
            <a:r>
              <a:rPr lang="en-US" dirty="0" smtClean="0"/>
              <a:t> cohort for GLAI (2013-2014)</a:t>
            </a:r>
          </a:p>
          <a:p>
            <a:r>
              <a:rPr lang="en-US" dirty="0" smtClean="0"/>
              <a:t>Participated in Renewable Energy trip to Costa Rica (2013)</a:t>
            </a:r>
          </a:p>
          <a:p>
            <a:r>
              <a:rPr lang="en-US" dirty="0" smtClean="0"/>
              <a:t>Completed training in PV installs (2013)</a:t>
            </a:r>
          </a:p>
          <a:p>
            <a:r>
              <a:rPr lang="en-US" dirty="0" smtClean="0"/>
              <a:t>Traveled to Dominican Republic for evaluation  of candidate solar panel site s (2013)</a:t>
            </a:r>
          </a:p>
          <a:p>
            <a:r>
              <a:rPr lang="en-US" dirty="0" smtClean="0"/>
              <a:t>Traveled to Wuxi China as part of Faculty Exchange (2014)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65" y="3621563"/>
            <a:ext cx="3927713" cy="29513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910" y="3613347"/>
            <a:ext cx="3949953" cy="295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7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3420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We need more global content in our courses</a:t>
            </a:r>
          </a:p>
          <a:p>
            <a:r>
              <a:rPr lang="en-US" dirty="0" smtClean="0"/>
              <a:t>Renewable energy is an important technical issue facing the world</a:t>
            </a:r>
          </a:p>
          <a:p>
            <a:r>
              <a:rPr lang="en-US" dirty="0" smtClean="0"/>
              <a:t>Solar technology is an important part of renewable energy</a:t>
            </a:r>
          </a:p>
          <a:p>
            <a:r>
              <a:rPr lang="en-US" dirty="0" smtClean="0"/>
              <a:t>Dominican Republic </a:t>
            </a:r>
            <a:r>
              <a:rPr lang="en-US" dirty="0"/>
              <a:t>has </a:t>
            </a:r>
            <a:r>
              <a:rPr lang="en-US" dirty="0" smtClean="0"/>
              <a:t>severe electrical problems </a:t>
            </a:r>
          </a:p>
          <a:p>
            <a:r>
              <a:rPr lang="en-US" dirty="0" smtClean="0"/>
              <a:t>China could be a partner to develop global solution to solar technology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4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3420"/>
          </a:xfrm>
        </p:spPr>
        <p:txBody>
          <a:bodyPr/>
          <a:lstStyle/>
          <a:p>
            <a:r>
              <a:rPr lang="en-US" dirty="0" smtClean="0"/>
              <a:t>The Plan &amp;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9381066" cy="3880773"/>
          </a:xfrm>
        </p:spPr>
        <p:txBody>
          <a:bodyPr/>
          <a:lstStyle/>
          <a:p>
            <a:r>
              <a:rPr lang="en-US" dirty="0" smtClean="0"/>
              <a:t>Use solar technology to introduce students to “challenges </a:t>
            </a:r>
            <a:r>
              <a:rPr lang="en-US" dirty="0"/>
              <a:t>facing global </a:t>
            </a:r>
            <a:r>
              <a:rPr lang="en-US" dirty="0" smtClean="0"/>
              <a:t>society”</a:t>
            </a:r>
          </a:p>
          <a:p>
            <a:r>
              <a:rPr lang="en-US" dirty="0" smtClean="0"/>
              <a:t>Introduce students to global concepts in ENGT 120 (an intro to engineering course)</a:t>
            </a:r>
          </a:p>
          <a:p>
            <a:r>
              <a:rPr lang="en-US" dirty="0" smtClean="0"/>
              <a:t>learning goals &amp; objectives</a:t>
            </a:r>
          </a:p>
          <a:p>
            <a:r>
              <a:rPr lang="en-US" dirty="0" smtClean="0"/>
              <a:t>1.) Learn </a:t>
            </a:r>
            <a:r>
              <a:rPr lang="en-US" dirty="0"/>
              <a:t>that we are not alone on this planet. </a:t>
            </a:r>
            <a:endParaRPr lang="en-US" dirty="0" smtClean="0"/>
          </a:p>
          <a:p>
            <a:r>
              <a:rPr lang="en-US" dirty="0" smtClean="0"/>
              <a:t>2.) Engineering </a:t>
            </a:r>
            <a:r>
              <a:rPr lang="en-US" dirty="0"/>
              <a:t>technology can be used to help improve the quality of life of other people. </a:t>
            </a:r>
            <a:endParaRPr lang="en-US" dirty="0" smtClean="0"/>
          </a:p>
          <a:p>
            <a:r>
              <a:rPr lang="en-US" dirty="0" smtClean="0"/>
              <a:t>3.) Other </a:t>
            </a:r>
            <a:r>
              <a:rPr lang="en-US" dirty="0"/>
              <a:t>cultures </a:t>
            </a:r>
            <a:r>
              <a:rPr lang="en-US" dirty="0" smtClean="0"/>
              <a:t>can </a:t>
            </a:r>
            <a:r>
              <a:rPr lang="en-US" dirty="0"/>
              <a:t>provide new insight into solving engineering problems through diversity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Globally we need renewable energy to reduce greenhouse gas emissions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8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0015"/>
          </a:xfrm>
        </p:spPr>
        <p:txBody>
          <a:bodyPr/>
          <a:lstStyle/>
          <a:p>
            <a:r>
              <a:rPr lang="en-US" dirty="0" smtClean="0"/>
              <a:t>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Design, build and test a 100W Single Axis Solar Panel System</a:t>
            </a:r>
          </a:p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747355" y="2154642"/>
            <a:ext cx="4567137" cy="2930933"/>
            <a:chOff x="1747355" y="2989032"/>
            <a:chExt cx="4567137" cy="2930933"/>
          </a:xfrm>
        </p:grpSpPr>
        <p:sp>
          <p:nvSpPr>
            <p:cNvPr id="4" name="Rectangle 3"/>
            <p:cNvSpPr/>
            <p:nvPr/>
          </p:nvSpPr>
          <p:spPr>
            <a:xfrm>
              <a:off x="1747355" y="2989780"/>
              <a:ext cx="1280160" cy="731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Solar Panel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390468" y="2989781"/>
              <a:ext cx="1280160" cy="731520"/>
            </a:xfrm>
            <a:prstGeom prst="rect">
              <a:avLst/>
            </a:prstGeom>
            <a:solidFill>
              <a:srgbClr val="66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Battery Charger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034332" y="2989032"/>
              <a:ext cx="1280160" cy="731520"/>
            </a:xfrm>
            <a:prstGeom prst="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Inverter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0468" y="4089112"/>
              <a:ext cx="1280160" cy="731520"/>
            </a:xfrm>
            <a:prstGeom prst="rect">
              <a:avLst/>
            </a:prstGeom>
            <a:solidFill>
              <a:srgbClr val="FF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Battery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90468" y="5188445"/>
              <a:ext cx="1280160" cy="73152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Tilt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Control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4" idx="3"/>
              <a:endCxn id="5" idx="1"/>
            </p:cNvCxnSpPr>
            <p:nvPr/>
          </p:nvCxnSpPr>
          <p:spPr>
            <a:xfrm>
              <a:off x="3027515" y="3355540"/>
              <a:ext cx="3629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5" idx="3"/>
              <a:endCxn id="6" idx="1"/>
            </p:cNvCxnSpPr>
            <p:nvPr/>
          </p:nvCxnSpPr>
          <p:spPr>
            <a:xfrm flipV="1">
              <a:off x="4670628" y="3354792"/>
              <a:ext cx="363704" cy="74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2"/>
              <a:endCxn id="7" idx="0"/>
            </p:cNvCxnSpPr>
            <p:nvPr/>
          </p:nvCxnSpPr>
          <p:spPr>
            <a:xfrm>
              <a:off x="4030548" y="3721301"/>
              <a:ext cx="0" cy="36781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7" idx="2"/>
              <a:endCxn id="8" idx="0"/>
            </p:cNvCxnSpPr>
            <p:nvPr/>
          </p:nvCxnSpPr>
          <p:spPr>
            <a:xfrm>
              <a:off x="4030548" y="4820632"/>
              <a:ext cx="0" cy="3678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8" idx="1"/>
              <a:endCxn id="4" idx="2"/>
            </p:cNvCxnSpPr>
            <p:nvPr/>
          </p:nvCxnSpPr>
          <p:spPr>
            <a:xfrm rot="10800000">
              <a:off x="2387436" y="3721301"/>
              <a:ext cx="1003033" cy="1832905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loud 32"/>
          <p:cNvSpPr/>
          <p:nvPr/>
        </p:nvSpPr>
        <p:spPr>
          <a:xfrm>
            <a:off x="8484643" y="230132"/>
            <a:ext cx="1623317" cy="1282961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Converts sunlight to electrical energy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Cloud 33"/>
          <p:cNvSpPr/>
          <p:nvPr/>
        </p:nvSpPr>
        <p:spPr>
          <a:xfrm>
            <a:off x="8484643" y="3557628"/>
            <a:ext cx="1623317" cy="1282961"/>
          </a:xfrm>
          <a:prstGeom prst="cloud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DC power source (stores energy)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Cloud 34"/>
          <p:cNvSpPr/>
          <p:nvPr/>
        </p:nvSpPr>
        <p:spPr>
          <a:xfrm>
            <a:off x="8484643" y="4820632"/>
            <a:ext cx="1835998" cy="1282961"/>
          </a:xfrm>
          <a:prstGeom prst="cloud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Controls the tilt angle of the solar panel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6" name="Cloud 35"/>
          <p:cNvSpPr/>
          <p:nvPr/>
        </p:nvSpPr>
        <p:spPr>
          <a:xfrm>
            <a:off x="8484643" y="1513093"/>
            <a:ext cx="1583254" cy="1037295"/>
          </a:xfrm>
          <a:prstGeom prst="cloud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Controls charging of battery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Cloud 36"/>
          <p:cNvSpPr/>
          <p:nvPr/>
        </p:nvSpPr>
        <p:spPr>
          <a:xfrm>
            <a:off x="8484643" y="2550388"/>
            <a:ext cx="1469204" cy="1007240"/>
          </a:xfrm>
          <a:prstGeom prst="cloud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Converts DC to AC voltage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7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001"/>
          </a:xfrm>
        </p:spPr>
        <p:txBody>
          <a:bodyPr/>
          <a:lstStyle/>
          <a:p>
            <a:r>
              <a:rPr lang="en-US" dirty="0" smtClean="0"/>
              <a:t>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Design, build and test a 100W Single Axis Solar Panel System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19" y="2075638"/>
            <a:ext cx="5049381" cy="37870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659" y="330486"/>
            <a:ext cx="3145970" cy="23594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90" y="2485535"/>
            <a:ext cx="3162524" cy="23718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344" y="3542809"/>
            <a:ext cx="3472543" cy="26044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0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9140"/>
          </a:xfrm>
        </p:spPr>
        <p:txBody>
          <a:bodyPr/>
          <a:lstStyle/>
          <a:p>
            <a:r>
              <a:rPr lang="en-US" dirty="0" smtClean="0"/>
              <a:t>The 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Create </a:t>
            </a:r>
            <a:r>
              <a:rPr lang="en-US" dirty="0">
                <a:solidFill>
                  <a:schemeClr val="tx1"/>
                </a:solidFill>
              </a:rPr>
              <a:t>added </a:t>
            </a:r>
            <a:r>
              <a:rPr lang="en-US" dirty="0" smtClean="0">
                <a:solidFill>
                  <a:schemeClr val="tx1"/>
                </a:solidFill>
              </a:rPr>
              <a:t>teaching resources for Wuxi </a:t>
            </a:r>
            <a:r>
              <a:rPr lang="en-US" dirty="0">
                <a:solidFill>
                  <a:schemeClr val="tx1"/>
                </a:solidFill>
              </a:rPr>
              <a:t>Professional College of Science and Technology</a:t>
            </a:r>
            <a:r>
              <a:rPr lang="en-US" dirty="0" smtClean="0"/>
              <a:t> </a:t>
            </a:r>
          </a:p>
          <a:p>
            <a:r>
              <a:rPr lang="en-US" dirty="0"/>
              <a:t>I</a:t>
            </a:r>
            <a:r>
              <a:rPr lang="en-US" dirty="0" smtClean="0">
                <a:solidFill>
                  <a:schemeClr val="tx1"/>
                </a:solidFill>
              </a:rPr>
              <a:t>nvestigate effectiveness of global teamwork  </a:t>
            </a:r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US" dirty="0" smtClean="0">
                <a:solidFill>
                  <a:schemeClr val="tx1"/>
                </a:solidFill>
              </a:rPr>
              <a:t>or Ivy Tech </a:t>
            </a:r>
            <a:r>
              <a:rPr lang="en-US" dirty="0">
                <a:solidFill>
                  <a:schemeClr val="tx1"/>
                </a:solidFill>
              </a:rPr>
              <a:t>Community </a:t>
            </a:r>
            <a:r>
              <a:rPr lang="en-US" dirty="0" smtClean="0">
                <a:solidFill>
                  <a:schemeClr val="tx1"/>
                </a:solidFill>
              </a:rPr>
              <a:t>College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Develop global partners in education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Explore potential for cross program thematic learning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Build a renewable energy platform that can be used to teach global teamwork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7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290"/>
          </a:xfrm>
        </p:spPr>
        <p:txBody>
          <a:bodyPr/>
          <a:lstStyle/>
          <a:p>
            <a:r>
              <a:rPr lang="en-US" dirty="0" smtClean="0"/>
              <a:t>Cultural Differences (compared to US)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Dominican Republic uses </a:t>
            </a:r>
            <a:r>
              <a:rPr lang="en-US" b="1" dirty="0"/>
              <a:t>89.61% less</a:t>
            </a:r>
            <a:r>
              <a:rPr lang="en-US" dirty="0"/>
              <a:t> </a:t>
            </a:r>
            <a:r>
              <a:rPr lang="en-US" dirty="0" smtClean="0"/>
              <a:t>electricity</a:t>
            </a:r>
            <a:r>
              <a:rPr lang="en-US" baseline="30000" dirty="0"/>
              <a:t> </a:t>
            </a:r>
            <a:r>
              <a:rPr lang="en-US" dirty="0" smtClean="0"/>
              <a:t>&amp; makes </a:t>
            </a:r>
            <a:r>
              <a:rPr lang="en-US" b="1" dirty="0" smtClean="0"/>
              <a:t>81.63% </a:t>
            </a:r>
            <a:r>
              <a:rPr lang="en-US" b="1" dirty="0"/>
              <a:t>less</a:t>
            </a:r>
            <a:r>
              <a:rPr lang="en-US" dirty="0"/>
              <a:t> </a:t>
            </a:r>
            <a:r>
              <a:rPr lang="en-US" dirty="0" smtClean="0"/>
              <a:t>money</a:t>
            </a:r>
          </a:p>
          <a:p>
            <a:r>
              <a:rPr lang="en-US" dirty="0" smtClean="0"/>
              <a:t>China uses </a:t>
            </a:r>
            <a:r>
              <a:rPr lang="en-US" b="1" dirty="0" smtClean="0"/>
              <a:t>67.79% </a:t>
            </a:r>
            <a:r>
              <a:rPr lang="en-US" b="1" dirty="0"/>
              <a:t>less</a:t>
            </a:r>
            <a:r>
              <a:rPr lang="en-US" dirty="0"/>
              <a:t> electricity</a:t>
            </a:r>
            <a:r>
              <a:rPr lang="en-US" baseline="30000" dirty="0"/>
              <a:t> </a:t>
            </a:r>
            <a:r>
              <a:rPr lang="en-US" dirty="0"/>
              <a:t>&amp; makes </a:t>
            </a:r>
            <a:r>
              <a:rPr lang="en-US" b="1" dirty="0" smtClean="0"/>
              <a:t>81.44% </a:t>
            </a:r>
            <a:r>
              <a:rPr lang="en-US" b="1" dirty="0"/>
              <a:t>less</a:t>
            </a:r>
            <a:r>
              <a:rPr lang="en-US" dirty="0"/>
              <a:t> money</a:t>
            </a:r>
            <a:endParaRPr lang="en-US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2291146" y="2475802"/>
            <a:ext cx="452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Electricity Generation </a:t>
            </a:r>
            <a:r>
              <a:rPr lang="en-US" b="1" u="sng" dirty="0"/>
              <a:t>by </a:t>
            </a:r>
            <a:r>
              <a:rPr lang="en-US" b="1" u="sng" dirty="0" smtClean="0"/>
              <a:t>Energy </a:t>
            </a:r>
            <a:r>
              <a:rPr lang="en-US" b="1" u="sng" dirty="0"/>
              <a:t>S</a:t>
            </a:r>
            <a:r>
              <a:rPr lang="en-US" b="1" u="sng" dirty="0" smtClean="0"/>
              <a:t>ource</a:t>
            </a:r>
            <a:endParaRPr lang="en-US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3562" y="2880921"/>
            <a:ext cx="3657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238" y="2880921"/>
            <a:ext cx="36512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522" y="3314911"/>
            <a:ext cx="2648738" cy="1986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476" y="2880921"/>
            <a:ext cx="3657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2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Engineering Design Process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2683" y="2197480"/>
            <a:ext cx="1571946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Identify the problem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71281" y="2180196"/>
            <a:ext cx="1571946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Research problem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71281" y="2961032"/>
            <a:ext cx="1571946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Brainstorm</a:t>
            </a:r>
          </a:p>
          <a:p>
            <a:r>
              <a:rPr lang="en-US" dirty="0" smtClean="0"/>
              <a:t>solutions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71281" y="1396672"/>
            <a:ext cx="1571946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Define requirements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85015" y="2182268"/>
            <a:ext cx="1972639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Selection options to pursue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84378" y="2182674"/>
            <a:ext cx="2013734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Design &amp; Build Prototype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98323" y="4539835"/>
            <a:ext cx="1916131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Test &amp; Evaluate Prototype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20283" y="4541142"/>
            <a:ext cx="1458930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Share results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90180" y="4539798"/>
            <a:ext cx="1458930" cy="646331"/>
          </a:xfrm>
          <a:prstGeom prst="rect">
            <a:avLst/>
          </a:prstGeom>
          <a:solidFill>
            <a:schemeClr val="accent1"/>
          </a:solidFill>
          <a:ln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Redesign if necessary</a:t>
            </a:r>
            <a:endParaRPr lang="en-US" dirty="0"/>
          </a:p>
        </p:txBody>
      </p:sp>
      <p:cxnSp>
        <p:nvCxnSpPr>
          <p:cNvPr id="16" name="Elbow Connector 15"/>
          <p:cNvCxnSpPr>
            <a:stCxn id="4" idx="3"/>
            <a:endCxn id="7" idx="1"/>
          </p:cNvCxnSpPr>
          <p:nvPr/>
        </p:nvCxnSpPr>
        <p:spPr>
          <a:xfrm flipV="1">
            <a:off x="2234629" y="1719838"/>
            <a:ext cx="436652" cy="80080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3"/>
            <a:endCxn id="5" idx="1"/>
          </p:cNvCxnSpPr>
          <p:nvPr/>
        </p:nvCxnSpPr>
        <p:spPr>
          <a:xfrm flipV="1">
            <a:off x="2234629" y="2503362"/>
            <a:ext cx="436652" cy="17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4" idx="3"/>
            <a:endCxn id="6" idx="1"/>
          </p:cNvCxnSpPr>
          <p:nvPr/>
        </p:nvCxnSpPr>
        <p:spPr>
          <a:xfrm>
            <a:off x="2234629" y="2520646"/>
            <a:ext cx="436652" cy="7635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" idx="3"/>
            <a:endCxn id="8" idx="1"/>
          </p:cNvCxnSpPr>
          <p:nvPr/>
        </p:nvCxnSpPr>
        <p:spPr>
          <a:xfrm>
            <a:off x="4243227" y="2503362"/>
            <a:ext cx="441788" cy="2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3"/>
            <a:endCxn id="9" idx="1"/>
          </p:cNvCxnSpPr>
          <p:nvPr/>
        </p:nvCxnSpPr>
        <p:spPr>
          <a:xfrm>
            <a:off x="6657654" y="2505434"/>
            <a:ext cx="626724" cy="4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7" idx="3"/>
            <a:endCxn id="8" idx="1"/>
          </p:cNvCxnSpPr>
          <p:nvPr/>
        </p:nvCxnSpPr>
        <p:spPr>
          <a:xfrm>
            <a:off x="4243227" y="1719838"/>
            <a:ext cx="441788" cy="78559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6" idx="3"/>
            <a:endCxn id="8" idx="1"/>
          </p:cNvCxnSpPr>
          <p:nvPr/>
        </p:nvCxnSpPr>
        <p:spPr>
          <a:xfrm flipV="1">
            <a:off x="4243227" y="2505434"/>
            <a:ext cx="441788" cy="77876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3"/>
            <a:endCxn id="10" idx="1"/>
          </p:cNvCxnSpPr>
          <p:nvPr/>
        </p:nvCxnSpPr>
        <p:spPr>
          <a:xfrm flipH="1">
            <a:off x="1998323" y="2505840"/>
            <a:ext cx="7299789" cy="2357161"/>
          </a:xfrm>
          <a:prstGeom prst="bentConnector5">
            <a:avLst>
              <a:gd name="adj1" fmla="val -3132"/>
              <a:gd name="adj2" fmla="val 67871"/>
              <a:gd name="adj3" fmla="val 10313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3"/>
            <a:endCxn id="12" idx="1"/>
          </p:cNvCxnSpPr>
          <p:nvPr/>
        </p:nvCxnSpPr>
        <p:spPr>
          <a:xfrm flipV="1">
            <a:off x="5779213" y="4862964"/>
            <a:ext cx="410967" cy="1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3"/>
            <a:endCxn id="11" idx="1"/>
          </p:cNvCxnSpPr>
          <p:nvPr/>
        </p:nvCxnSpPr>
        <p:spPr>
          <a:xfrm>
            <a:off x="3914454" y="4863001"/>
            <a:ext cx="405829" cy="13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2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5856"/>
          </a:xfrm>
        </p:spPr>
        <p:txBody>
          <a:bodyPr/>
          <a:lstStyle/>
          <a:p>
            <a:r>
              <a:rPr lang="en-US" dirty="0" smtClean="0"/>
              <a:t>The Problem (DR)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People in the Carebiean and Central America cannot afford electricity because it is so expensive to produce and the cost of living </a:t>
            </a:r>
            <a:r>
              <a:rPr lang="en-US" dirty="0"/>
              <a:t> </a:t>
            </a:r>
            <a:r>
              <a:rPr lang="en-US" dirty="0" smtClean="0"/>
              <a:t>                     (GDP per person) is so low</a:t>
            </a:r>
          </a:p>
          <a:p>
            <a:r>
              <a:rPr lang="en-US" dirty="0" smtClean="0"/>
              <a:t>The high cost is partly tied to the lack of natural resources which can be used to produce electricity</a:t>
            </a:r>
          </a:p>
          <a:p>
            <a:r>
              <a:rPr lang="en-US" dirty="0" smtClean="0"/>
              <a:t>Fossil fuels use to produce electricity can have a negative impact on the generation of greenhouse gases.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65" y="3764973"/>
            <a:ext cx="3440545" cy="2580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253" y="3764972"/>
            <a:ext cx="3440544" cy="2580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012" y="1385456"/>
            <a:ext cx="2592531" cy="34567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2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5018"/>
          </a:xfrm>
        </p:spPr>
        <p:txBody>
          <a:bodyPr/>
          <a:lstStyle/>
          <a:p>
            <a:r>
              <a:rPr lang="en-US" dirty="0" smtClean="0"/>
              <a:t>The Solution (China)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Solar energy can be used to generate electricity</a:t>
            </a:r>
          </a:p>
          <a:p>
            <a:r>
              <a:rPr lang="en-US" dirty="0" smtClean="0"/>
              <a:t>China is the primary solar panel manufacture in the world</a:t>
            </a:r>
          </a:p>
          <a:p>
            <a:r>
              <a:rPr lang="en-US" dirty="0" smtClean="0"/>
              <a:t>Cost of 100W Solar Panel System was 550 RMB = $100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7" y="2784764"/>
            <a:ext cx="4045529" cy="30341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772" y="2784764"/>
            <a:ext cx="4045528" cy="30341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300" y="1274618"/>
            <a:ext cx="2826328" cy="37684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9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6280"/>
          </a:xfrm>
        </p:spPr>
        <p:txBody>
          <a:bodyPr/>
          <a:lstStyle/>
          <a:p>
            <a:r>
              <a:rPr lang="en-US" dirty="0" smtClean="0"/>
              <a:t>Global Teamwork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461" y="409987"/>
            <a:ext cx="3323416" cy="249256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43" y="1656268"/>
            <a:ext cx="3627120" cy="27203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461" y="3490783"/>
            <a:ext cx="3758103" cy="2818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20" y="4376608"/>
            <a:ext cx="4543445" cy="2555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508" y="2456367"/>
            <a:ext cx="3916681" cy="2937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4850"/>
          </a:xfrm>
        </p:spPr>
        <p:txBody>
          <a:bodyPr/>
          <a:lstStyle/>
          <a:p>
            <a:r>
              <a:rPr lang="en-US" dirty="0" smtClean="0"/>
              <a:t>Cultural 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/>
              <a:t>What is cultural </a:t>
            </a:r>
            <a:r>
              <a:rPr lang="en-US" dirty="0" smtClean="0"/>
              <a:t>bias?</a:t>
            </a:r>
          </a:p>
          <a:p>
            <a:r>
              <a:rPr lang="en-US" dirty="0"/>
              <a:t>What is </a:t>
            </a:r>
            <a:r>
              <a:rPr lang="en-US" dirty="0" smtClean="0"/>
              <a:t>charity?</a:t>
            </a:r>
          </a:p>
          <a:p>
            <a:r>
              <a:rPr lang="en-US" dirty="0" smtClean="0"/>
              <a:t>Red tape</a:t>
            </a:r>
          </a:p>
          <a:p>
            <a:r>
              <a:rPr lang="en-US" dirty="0" smtClean="0"/>
              <a:t>The cast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7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199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1. Compare </a:t>
            </a:r>
            <a:r>
              <a:rPr lang="en-US" dirty="0"/>
              <a:t>The United States To </a:t>
            </a:r>
            <a:r>
              <a:rPr lang="en-US" dirty="0" smtClean="0"/>
              <a:t>China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www.ifitweremyhome.com/compare/US/CN</a:t>
            </a:r>
            <a:endParaRPr lang="en-US" dirty="0" smtClean="0"/>
          </a:p>
          <a:p>
            <a:r>
              <a:rPr lang="en-US" dirty="0" smtClean="0"/>
              <a:t>2. </a:t>
            </a:r>
            <a:r>
              <a:rPr lang="en-US" dirty="0"/>
              <a:t>Compare The United States To Dominican </a:t>
            </a:r>
            <a:r>
              <a:rPr lang="en-US" dirty="0" smtClean="0"/>
              <a:t>Republic</a:t>
            </a:r>
            <a:r>
              <a:rPr lang="en-US" dirty="0"/>
              <a:t>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www.ifitweremyhome.com/compare/US/DO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Issue Brief: China’s Actions on Clean Power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www.eesi.org/papers/view/issue-brief-chinas-actions-on-clean-power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 Dominican Republic’s Energy </a:t>
            </a:r>
            <a:r>
              <a:rPr lang="en-US" dirty="0" smtClean="0"/>
              <a:t>Market            </a:t>
            </a:r>
            <a:r>
              <a:rPr lang="en-US" dirty="0" smtClean="0">
                <a:hlinkClick r:id="rId5"/>
              </a:rPr>
              <a:t>http</a:t>
            </a:r>
            <a:r>
              <a:rPr lang="en-US" dirty="0">
                <a:hlinkClick r:id="rId5"/>
              </a:rPr>
              <a:t>://blogs.iadb.org/caribbean-dev-trends/2013/11/27/dominican-republics-energy-market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r>
              <a:rPr lang="en-US" dirty="0" smtClean="0"/>
              <a:t>5. What </a:t>
            </a:r>
            <a:r>
              <a:rPr lang="en-US" dirty="0"/>
              <a:t>is U.S. electricity generation by energy source? </a:t>
            </a:r>
            <a:r>
              <a:rPr lang="en-US" b="1" dirty="0">
                <a:hlinkClick r:id="rId6"/>
              </a:rPr>
              <a:t>http://</a:t>
            </a:r>
            <a:r>
              <a:rPr lang="en-US" b="1" dirty="0" smtClean="0">
                <a:hlinkClick r:id="rId6"/>
              </a:rPr>
              <a:t>www.eia.gov/tools/faqs/faq.cfm?id=427&amp;t=3</a:t>
            </a:r>
            <a:endParaRPr lang="en-US" b="1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6280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3880773"/>
          </a:xfrm>
        </p:spPr>
        <p:txBody>
          <a:bodyPr/>
          <a:lstStyle/>
          <a:p>
            <a:r>
              <a:rPr lang="en-US" dirty="0" smtClean="0"/>
              <a:t>6</a:t>
            </a:r>
            <a:r>
              <a:rPr lang="en-US" dirty="0"/>
              <a:t>. Caribbean Regional Electricity Generation, Interconnection, and Fuels Supply Strategy 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www.caricom.org/jsp/community_organs/energy_programme/electricity_gifs_strategy_final_report_summary.pdf</a:t>
            </a:r>
            <a:endParaRPr lang="en-US" dirty="0" smtClean="0"/>
          </a:p>
          <a:p>
            <a:r>
              <a:rPr lang="en-US" dirty="0"/>
              <a:t>7. Where Does My Electricity Come </a:t>
            </a:r>
            <a:r>
              <a:rPr lang="en-US" dirty="0" smtClean="0"/>
              <a:t>From?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://blog.epa.gov/blog/2009/09/where-does-my-electricity-come-from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US" dirty="0" smtClean="0"/>
              <a:t>8. </a:t>
            </a:r>
            <a:r>
              <a:rPr lang="en-US" dirty="0"/>
              <a:t>Indiana - IER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://instituteforenergyresearch.org/states/indiana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r>
              <a:rPr lang="en-US" dirty="0" smtClean="0"/>
              <a:t>9. </a:t>
            </a:r>
            <a:r>
              <a:rPr lang="en-US" dirty="0"/>
              <a:t>NRDC: Renewable Energy in </a:t>
            </a:r>
            <a:r>
              <a:rPr lang="en-US" dirty="0" smtClean="0"/>
              <a:t>Indiana </a:t>
            </a:r>
            <a:r>
              <a:rPr lang="en-US" dirty="0" smtClean="0">
                <a:hlinkClick r:id="rId5"/>
              </a:rPr>
              <a:t>http</a:t>
            </a:r>
            <a:r>
              <a:rPr lang="en-US" dirty="0">
                <a:hlinkClick r:id="rId5"/>
              </a:rPr>
              <a:t>://</a:t>
            </a:r>
            <a:r>
              <a:rPr lang="en-US" dirty="0" smtClean="0">
                <a:hlinkClick r:id="rId5"/>
              </a:rPr>
              <a:t>www.nrdc.org/energy/renewables/indiana.asp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014" y="5763482"/>
            <a:ext cx="680042" cy="10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1298</TotalTime>
  <Words>882</Words>
  <Application>Microsoft Office PowerPoint</Application>
  <PresentationFormat>Widescreen</PresentationFormat>
  <Paragraphs>117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Global Learning using Solar Projects in China</vt:lpstr>
      <vt:lpstr>Introduction</vt:lpstr>
      <vt:lpstr>Conclusion</vt:lpstr>
      <vt:lpstr>The Plan &amp; Goals</vt:lpstr>
      <vt:lpstr>The Project</vt:lpstr>
      <vt:lpstr>The Project</vt:lpstr>
      <vt:lpstr>The Purpose</vt:lpstr>
      <vt:lpstr>Cultural Differences (compared to US) </vt:lpstr>
      <vt:lpstr>The Engineering Design Process</vt:lpstr>
      <vt:lpstr>The Problem (DR)</vt:lpstr>
      <vt:lpstr>The Solution (China)</vt:lpstr>
      <vt:lpstr>Global Teamwork</vt:lpstr>
      <vt:lpstr>Cultural Observations</vt:lpstr>
      <vt:lpstr>References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Panel Project in China</dc:title>
  <dc:creator>Linda</dc:creator>
  <cp:lastModifiedBy>Andrew Bell</cp:lastModifiedBy>
  <cp:revision>42</cp:revision>
  <dcterms:created xsi:type="dcterms:W3CDTF">2015-04-10T20:34:51Z</dcterms:created>
  <dcterms:modified xsi:type="dcterms:W3CDTF">2015-04-17T17:18:54Z</dcterms:modified>
</cp:coreProperties>
</file>